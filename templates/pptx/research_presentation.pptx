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指标</c:v>
                </c:pt>
              </c:strCache>
            </c:strRef>
          </c:tx>
          <c:spPr>
            <a:solidFill>
              <a:srgbClr val="A92332"/>
            </a:solidFill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411480"/>
            <a:ext cx="384048" cy="54864"/>
          </a:xfrm>
          <a:prstGeom prst="rect">
            <a:avLst/>
          </a:prstGeom>
          <a:solidFill>
            <a:srgbClr val="A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16459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[LOGO]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1280160"/>
            <a:ext cx="8046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研究报告标题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23317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核心结论 / 决策问题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466344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日期 · 资料级别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64592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E6268"/>
                </a:solidFill>
                <a:latin typeface="Microsoft YaHei"/>
              </a:defRPr>
            </a:pPr>
            <a:r>
              <a:t>章节名称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475488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Microsoft YaHei"/>
              </a:defRPr>
            </a:pPr>
            <a:r>
              <a:t>结论标题：一句话表达决策含义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960120"/>
            <a:ext cx="384048" cy="41148"/>
          </a:xfrm>
          <a:prstGeom prst="rect">
            <a:avLst/>
          </a:prstGeom>
          <a:solidFill>
            <a:srgbClr val="A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124"/>
                </a:solidFill>
                <a:latin typeface="Microsoft YaHei"/>
              </a:defRPr>
            </a:pPr>
            <a:r>
              <a:t>主要证据与推理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7955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92332"/>
                </a:solidFill>
                <a:latin typeface="Microsoft YaHei"/>
              </a:defRPr>
            </a:pPr>
            <a:r>
              <a:t>决策含义 / 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4800600"/>
            <a:ext cx="7955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268"/>
                </a:solidFill>
              </a:defRPr>
            </a:pPr>
            <a:r>
              <a:t>来源： [S-01]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6459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124"/>
                </a:solidFill>
              </a:defRPr>
            </a:pPr>
            <a:r>
              <a:t>时间趋势 / 企业比较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914400"/>
          <a:ext cx="7772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52628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268"/>
                </a:solidFill>
              </a:defRPr>
            </a:pPr>
            <a:r>
              <a:t>单位：示例单位  |  数据来源：[S-01]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6459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2124"/>
                </a:solidFill>
              </a:defRPr>
            </a:pPr>
            <a:r>
              <a:t>公司 / 方案比较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79552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/>
                <a:gridCol w="2651759"/>
                <a:gridCol w="2651761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比较维度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对象A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对象B</a:t>
                      </a:r>
                    </a:p>
                  </a:txBody>
                  <a:tcPr>
                    <a:solidFill>
                      <a:srgbClr val="2021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124"/>
                          </a:solidFill>
                          <a:latin typeface="Microsoft YaHei"/>
                        </a:defRPr>
                      </a:pPr>
                      <a:r>
                        <a:t>产品/能力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124"/>
                          </a:solidFill>
                          <a:latin typeface="Microsoft YaHei"/>
                        </a:defRPr>
                      </a:pPr>
                      <a:r>
                        <a:t>输入数据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124"/>
                          </a:solidFill>
                          <a:latin typeface="Microsoft YaHei"/>
                        </a:defRPr>
                      </a:pPr>
                      <a:r>
                        <a:t>输入数据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124"/>
                          </a:solidFill>
                          <a:latin typeface="Microsoft YaHei"/>
                        </a:defRPr>
                      </a:pPr>
                      <a:r>
                        <a:t>证据与限制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124"/>
                          </a:solidFill>
                          <a:latin typeface="Microsoft YaHei"/>
                        </a:defRPr>
                      </a:pPr>
                      <a:r>
                        <a:t>[S-01]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124"/>
                          </a:solidFill>
                          <a:latin typeface="Microsoft YaHei"/>
                        </a:defRPr>
                      </a:pPr>
                      <a:r>
                        <a:t>[S-02]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20440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92332"/>
                </a:solidFill>
                <a:latin typeface="Microsoft YaHei"/>
              </a:defRPr>
            </a:pPr>
            <a:r>
              <a:t>结论与决策含义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